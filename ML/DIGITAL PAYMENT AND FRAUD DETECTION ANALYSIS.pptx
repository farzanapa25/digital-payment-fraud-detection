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8" r:id="rId9"/>
    <p:sldId id="269" r:id="rId10"/>
    <p:sldId id="274" r:id="rId11"/>
    <p:sldId id="270" r:id="rId12"/>
    <p:sldId id="266" r:id="rId13"/>
    <p:sldId id="271" r:id="rId14"/>
    <p:sldId id="265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183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921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9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261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13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12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896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23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73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883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67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3712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57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82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680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806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4FC50-99A6-4F3A-B69F-492221355579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00AB6-8B87-4A8F-900A-C02A7C629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715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4E476-853B-615C-D664-813741BFD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DIGITAL PAYMENT AND FRAUD DETECTION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A9338-8994-C69B-1989-7F1C4A28F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7031" y="4005826"/>
            <a:ext cx="2561304" cy="68580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Presented by,</a:t>
            </a:r>
          </a:p>
          <a:p>
            <a:r>
              <a:rPr lang="en-IN" dirty="0"/>
              <a:t>             Farzana P A</a:t>
            </a:r>
          </a:p>
        </p:txBody>
      </p:sp>
    </p:spTree>
    <p:extLst>
      <p:ext uri="{BB962C8B-B14F-4D97-AF65-F5344CB8AC3E}">
        <p14:creationId xmlns:p14="http://schemas.microsoft.com/office/powerpoint/2010/main" val="952317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1261B3-9BEC-680D-87E3-B0FA4DE094E7}"/>
              </a:ext>
            </a:extLst>
          </p:cNvPr>
          <p:cNvSpPr txBox="1"/>
          <p:nvPr/>
        </p:nvSpPr>
        <p:spPr>
          <a:xfrm>
            <a:off x="1238865" y="1494504"/>
            <a:ext cx="3864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BFB81B-4B56-2EF7-E076-2E3903189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865" y="1952325"/>
            <a:ext cx="1074665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the rise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online transactions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digital payment fraud has become a major concern.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Detecting fraud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manually is inefficient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due to the huge volume of transactions.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automatically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analyze transaction patterns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identify fraudulent activities.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focuses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building a system that predicts potential fraud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using historical transaction data. </a:t>
            </a:r>
          </a:p>
        </p:txBody>
      </p:sp>
    </p:spTree>
    <p:extLst>
      <p:ext uri="{BB962C8B-B14F-4D97-AF65-F5344CB8AC3E}">
        <p14:creationId xmlns:p14="http://schemas.microsoft.com/office/powerpoint/2010/main" val="328682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81F71-C248-9004-7342-5A5226FB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BABA35-DA75-25E9-C8E7-5FCB9CB267DC}"/>
              </a:ext>
            </a:extLst>
          </p:cNvPr>
          <p:cNvSpPr txBox="1"/>
          <p:nvPr/>
        </p:nvSpPr>
        <p:spPr>
          <a:xfrm>
            <a:off x="1238864" y="1347410"/>
            <a:ext cx="3864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C6EA08-A383-E6EB-CB73-B3C2AEDAB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864" y="1780859"/>
            <a:ext cx="6599884" cy="2160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fraudulent digital payments using machine learning.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transaction data to find risky patterns.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models to predict fraud accurately.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prevent financial losses and improve security. </a:t>
            </a:r>
          </a:p>
        </p:txBody>
      </p:sp>
    </p:spTree>
    <p:extLst>
      <p:ext uri="{BB962C8B-B14F-4D97-AF65-F5344CB8AC3E}">
        <p14:creationId xmlns:p14="http://schemas.microsoft.com/office/powerpoint/2010/main" val="923342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E929B-1302-B4DF-E622-C794BF1F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A1A537-5EB3-E673-2C89-F0FF5E0DEEED}"/>
              </a:ext>
            </a:extLst>
          </p:cNvPr>
          <p:cNvSpPr txBox="1"/>
          <p:nvPr/>
        </p:nvSpPr>
        <p:spPr>
          <a:xfrm>
            <a:off x="840658" y="1022945"/>
            <a:ext cx="3864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PROCESS OF DATASET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C96360E-7EF7-84B8-C693-AFAD09F19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58" y="1794674"/>
            <a:ext cx="10481139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Gathered from Kaggle with 7500 transactions and 15 columns.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Removed duplicates, handled missing values.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Encoded categorical features, scaled numerical features.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Choose important features affecting fraud detection.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Regression, Random Forest,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KNN,SVM,Gradient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Boosting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Testing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Split data into training and testing sets, trained models.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Checked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accuracy, confusion matrix and classification report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7431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1F936-D026-8FA2-667D-D47FB4618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820BB-33AB-6539-7287-9CB304888EA4}"/>
              </a:ext>
            </a:extLst>
          </p:cNvPr>
          <p:cNvSpPr txBox="1"/>
          <p:nvPr/>
        </p:nvSpPr>
        <p:spPr>
          <a:xfrm>
            <a:off x="5152102" y="275693"/>
            <a:ext cx="3864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11F539-94D7-4B82-CF1F-EB96F7EBD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76" y="933101"/>
            <a:ext cx="11450648" cy="547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73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BEF4D-6267-D79F-DA28-B3F1A6A1F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522AC3-E3AF-3432-CE14-BD784B32424F}"/>
              </a:ext>
            </a:extLst>
          </p:cNvPr>
          <p:cNvSpPr txBox="1"/>
          <p:nvPr/>
        </p:nvSpPr>
        <p:spPr>
          <a:xfrm>
            <a:off x="3824748" y="383848"/>
            <a:ext cx="5230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CORRELATION HEATMAP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AA0B66-85D9-B54F-E1EC-5F6B41719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2370"/>
            <a:ext cx="12192000" cy="584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30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6EDCA-2B5A-C766-8CC3-2A5A5C20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FC6F32-D22C-0FAC-4C5D-E9851C2EA43D}"/>
              </a:ext>
            </a:extLst>
          </p:cNvPr>
          <p:cNvSpPr txBox="1"/>
          <p:nvPr/>
        </p:nvSpPr>
        <p:spPr>
          <a:xfrm>
            <a:off x="4163961" y="452285"/>
            <a:ext cx="3864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RESULT OBTAINED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3C503-C4A2-C4BE-7464-4373593368AE}"/>
              </a:ext>
            </a:extLst>
          </p:cNvPr>
          <p:cNvSpPr txBox="1"/>
          <p:nvPr/>
        </p:nvSpPr>
        <p:spPr>
          <a:xfrm>
            <a:off x="865237" y="1582993"/>
            <a:ext cx="253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Logistic</a:t>
            </a:r>
            <a:r>
              <a:rPr lang="en-IN" sz="2000" b="1" dirty="0"/>
              <a:t> </a:t>
            </a:r>
            <a:r>
              <a:rPr lang="en-IN" sz="2000" b="1" dirty="0">
                <a:solidFill>
                  <a:schemeClr val="accent2"/>
                </a:solidFill>
              </a:rPr>
              <a:t>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71BC68-31E9-5F83-0FC7-4B33A51DD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31" y="2283710"/>
            <a:ext cx="5326269" cy="3553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C60DF2-007A-6036-B683-5EBFE33D3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553" y="1582992"/>
            <a:ext cx="6176019" cy="49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9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4DAA0-C0D0-A95D-5A64-CC0D8F02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13840-80B9-F8D0-A383-77E63E9B9E55}"/>
              </a:ext>
            </a:extLst>
          </p:cNvPr>
          <p:cNvSpPr txBox="1"/>
          <p:nvPr/>
        </p:nvSpPr>
        <p:spPr>
          <a:xfrm>
            <a:off x="4163961" y="452285"/>
            <a:ext cx="3864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RESULT OBTAINED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46ED5-F119-BDFF-D20C-C05D10FFD1AB}"/>
              </a:ext>
            </a:extLst>
          </p:cNvPr>
          <p:cNvSpPr txBox="1"/>
          <p:nvPr/>
        </p:nvSpPr>
        <p:spPr>
          <a:xfrm>
            <a:off x="865237" y="1582993"/>
            <a:ext cx="253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Random Forest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51BA5E-3A8E-0157-A0D2-7B58F1B38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96" y="2356497"/>
            <a:ext cx="5240375" cy="3597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735E1F-87DE-2020-4C55-FE2129EC8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228" y="1741714"/>
            <a:ext cx="6498771" cy="46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45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67653-CC4C-773E-6E26-290530B3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8024C8-BF41-BD48-5A56-23B20EBB5897}"/>
              </a:ext>
            </a:extLst>
          </p:cNvPr>
          <p:cNvSpPr txBox="1"/>
          <p:nvPr/>
        </p:nvSpPr>
        <p:spPr>
          <a:xfrm>
            <a:off x="4163961" y="452285"/>
            <a:ext cx="3864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RESULT OBTAINED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199437-A6D2-A960-DF7E-069320CE3A4D}"/>
              </a:ext>
            </a:extLst>
          </p:cNvPr>
          <p:cNvSpPr txBox="1"/>
          <p:nvPr/>
        </p:nvSpPr>
        <p:spPr>
          <a:xfrm>
            <a:off x="865237" y="1582993"/>
            <a:ext cx="31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K-Nearest </a:t>
            </a:r>
            <a:r>
              <a:rPr lang="en-IN" sz="2000" b="1" dirty="0" err="1">
                <a:solidFill>
                  <a:schemeClr val="accent2"/>
                </a:solidFill>
              </a:rPr>
              <a:t>Neighbors</a:t>
            </a:r>
            <a:endParaRPr lang="en-IN" sz="2000" b="1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FD8AA-FDB2-23AD-404E-8DE3A88FD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14" y="2284374"/>
            <a:ext cx="5620857" cy="3791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76B2E4-C72E-0C75-A537-453E71A43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485" y="1730828"/>
            <a:ext cx="6215744" cy="473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294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51A3B-A654-69B8-5EB3-895A0E50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60A53B-CA3A-11BF-2B6F-578FF80DA7B5}"/>
              </a:ext>
            </a:extLst>
          </p:cNvPr>
          <p:cNvSpPr txBox="1"/>
          <p:nvPr/>
        </p:nvSpPr>
        <p:spPr>
          <a:xfrm>
            <a:off x="4163961" y="452285"/>
            <a:ext cx="3864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RESULT OBTAINED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CB5D4-441E-8249-D98A-3B326B6F54A8}"/>
              </a:ext>
            </a:extLst>
          </p:cNvPr>
          <p:cNvSpPr txBox="1"/>
          <p:nvPr/>
        </p:nvSpPr>
        <p:spPr>
          <a:xfrm>
            <a:off x="865236" y="1582993"/>
            <a:ext cx="3391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Support Vector Machine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832E5-A115-576C-CD3C-299542D5C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172" y="1719943"/>
            <a:ext cx="6302828" cy="4769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19F113-AC5F-B35F-25AB-83E69DBD4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7" y="2590591"/>
            <a:ext cx="5784155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87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F6727-EB45-47E5-A698-0A797558D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576585-176A-ECB7-4B89-C79C1679513E}"/>
              </a:ext>
            </a:extLst>
          </p:cNvPr>
          <p:cNvSpPr txBox="1"/>
          <p:nvPr/>
        </p:nvSpPr>
        <p:spPr>
          <a:xfrm>
            <a:off x="4163961" y="452285"/>
            <a:ext cx="3864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RESULT OBTAINED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BCBC4-6552-3366-188D-7C6DC8E8B7B2}"/>
              </a:ext>
            </a:extLst>
          </p:cNvPr>
          <p:cNvSpPr txBox="1"/>
          <p:nvPr/>
        </p:nvSpPr>
        <p:spPr>
          <a:xfrm>
            <a:off x="865237" y="1582993"/>
            <a:ext cx="253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Gradient Boosting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56A201-C420-9293-11CA-1DBBB45BF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26" y="2449286"/>
            <a:ext cx="5622903" cy="3757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D14348-163B-13A3-2BEC-0F6327EDD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429" y="1687286"/>
            <a:ext cx="6422571" cy="487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68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ECA2C-4F04-5A52-B824-C85AC958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DCC2E5-1E37-421B-501E-8E7F07B53687}"/>
              </a:ext>
            </a:extLst>
          </p:cNvPr>
          <p:cNvSpPr txBox="1"/>
          <p:nvPr/>
        </p:nvSpPr>
        <p:spPr>
          <a:xfrm>
            <a:off x="1317523" y="1288027"/>
            <a:ext cx="6725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ACCURACY 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E7AF9F-9095-F48C-2E94-6E601FD7B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320671"/>
              </p:ext>
            </p:extLst>
          </p:nvPr>
        </p:nvGraphicFramePr>
        <p:xfrm>
          <a:off x="1433286" y="2416629"/>
          <a:ext cx="8128000" cy="358067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258162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63830732"/>
                    </a:ext>
                  </a:extLst>
                </a:gridCol>
              </a:tblGrid>
              <a:tr h="57512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565890"/>
                  </a:ext>
                </a:extLst>
              </a:tr>
              <a:tr h="575128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895805"/>
                  </a:ext>
                </a:extLst>
              </a:tr>
              <a:tr h="575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860861"/>
                  </a:ext>
                </a:extLst>
              </a:tr>
              <a:tr h="575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K-Nearest </a:t>
                      </a: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Neighbors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571962"/>
                  </a:ext>
                </a:extLst>
              </a:tr>
              <a:tr h="575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Vector Machine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412822"/>
                  </a:ext>
                </a:extLst>
              </a:tr>
              <a:tr h="575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Gradient Boosting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0.93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893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55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308B8-8D9B-988E-7BD2-F5FB9FFD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EF225-1106-B32F-4D0E-8AE652F82746}"/>
              </a:ext>
            </a:extLst>
          </p:cNvPr>
          <p:cNvSpPr txBox="1"/>
          <p:nvPr/>
        </p:nvSpPr>
        <p:spPr>
          <a:xfrm>
            <a:off x="365505" y="1494504"/>
            <a:ext cx="5663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KEY INSIGHTS AND FINDINGS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C5A4B94-CB65-44E5-B10C-14D4410A8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05" y="2017724"/>
            <a:ext cx="10977409" cy="3083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fraudulent transactions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high-value or international transactions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Certain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devices and locations are more susceptible to fraud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failed login attempts or unusual login activity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at higher risk.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,KNN and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give better accuracy for detecting fraud.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can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financial losses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improve transaction security. </a:t>
            </a:r>
          </a:p>
        </p:txBody>
      </p:sp>
    </p:spTree>
    <p:extLst>
      <p:ext uri="{BB962C8B-B14F-4D97-AF65-F5344CB8AC3E}">
        <p14:creationId xmlns:p14="http://schemas.microsoft.com/office/powerpoint/2010/main" val="3923946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947B9-A280-8B97-7F4B-1F552B96D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152FCA-67C5-33A4-7EF2-D0E7278EFA50}"/>
              </a:ext>
            </a:extLst>
          </p:cNvPr>
          <p:cNvSpPr txBox="1"/>
          <p:nvPr/>
        </p:nvSpPr>
        <p:spPr>
          <a:xfrm>
            <a:off x="1053807" y="1516276"/>
            <a:ext cx="4857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25756C1-E718-60E1-489E-9FFC8BA91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807" y="2117839"/>
            <a:ext cx="8253734" cy="2622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real-time transaction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model accuracy.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complex fraud patterns.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user behavior trends and transaction history.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suspicious transactions.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the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new fraud patterns emerge. </a:t>
            </a:r>
          </a:p>
        </p:txBody>
      </p:sp>
    </p:spTree>
    <p:extLst>
      <p:ext uri="{BB962C8B-B14F-4D97-AF65-F5344CB8AC3E}">
        <p14:creationId xmlns:p14="http://schemas.microsoft.com/office/powerpoint/2010/main" val="1809979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56097-A109-3F73-AD32-28651B631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CA5BA6-CF20-EB3E-C1B9-C61F62267E04}"/>
              </a:ext>
            </a:extLst>
          </p:cNvPr>
          <p:cNvSpPr txBox="1"/>
          <p:nvPr/>
        </p:nvSpPr>
        <p:spPr>
          <a:xfrm>
            <a:off x="1229032" y="1435511"/>
            <a:ext cx="5663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3B24B0-AB8A-CAF6-1D03-A29415114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542" y="1874491"/>
            <a:ext cx="8492389" cy="2622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fraud in digital payments is very important for safety.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help predict and stop fraud quickly.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like Random Forest ,KNN and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give good accuracy.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preparing data improves results.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fraud detection saves money, time, and builds trust. </a:t>
            </a:r>
          </a:p>
        </p:txBody>
      </p:sp>
    </p:spTree>
    <p:extLst>
      <p:ext uri="{BB962C8B-B14F-4D97-AF65-F5344CB8AC3E}">
        <p14:creationId xmlns:p14="http://schemas.microsoft.com/office/powerpoint/2010/main" val="749549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287A97-DBBC-D16B-AEE5-E50729BA53D1}"/>
              </a:ext>
            </a:extLst>
          </p:cNvPr>
          <p:cNvSpPr txBox="1"/>
          <p:nvPr/>
        </p:nvSpPr>
        <p:spPr>
          <a:xfrm>
            <a:off x="3982064" y="2802193"/>
            <a:ext cx="5624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383492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617</TotalTime>
  <Words>410</Words>
  <Application>Microsoft Office PowerPoint</Application>
  <PresentationFormat>Widescreen</PresentationFormat>
  <Paragraphs>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Algerian</vt:lpstr>
      <vt:lpstr>Arial</vt:lpstr>
      <vt:lpstr>Calibri</vt:lpstr>
      <vt:lpstr>Century Gothic</vt:lpstr>
      <vt:lpstr>Times New Roman</vt:lpstr>
      <vt:lpstr>Wingdings</vt:lpstr>
      <vt:lpstr>Vapor Trail</vt:lpstr>
      <vt:lpstr>DIGITAL PAYMENT AND FRAUD DETECTION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Dilna Dennis</dc:creator>
  <cp:lastModifiedBy>Farzana PA</cp:lastModifiedBy>
  <cp:revision>7</cp:revision>
  <dcterms:created xsi:type="dcterms:W3CDTF">2026-03-30T12:49:53Z</dcterms:created>
  <dcterms:modified xsi:type="dcterms:W3CDTF">2026-04-04T13:13:15Z</dcterms:modified>
</cp:coreProperties>
</file>